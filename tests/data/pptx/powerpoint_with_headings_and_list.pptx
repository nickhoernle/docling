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401" r:id="rId6"/>
  </p:sldIdLst>
  <p:sldSz cx="12190413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24">
          <p15:clr>
            <a:srgbClr val="A4A3A4"/>
          </p15:clr>
        </p15:guide>
        <p15:guide id="2" pos="660">
          <p15:clr>
            <a:srgbClr val="A4A3A4"/>
          </p15:clr>
        </p15:guide>
        <p15:guide id="3" pos="7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D27"/>
    <a:srgbClr val="282828"/>
    <a:srgbClr val="A2CF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ittlere Formatvorlage 1 - Akz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6" autoAdjust="0"/>
    <p:restoredTop sz="96124"/>
  </p:normalViewPr>
  <p:slideViewPr>
    <p:cSldViewPr snapToGrid="0" snapToObjects="1">
      <p:cViewPr varScale="1">
        <p:scale>
          <a:sx n="97" d="100"/>
          <a:sy n="97" d="100"/>
        </p:scale>
        <p:origin x="224" y="904"/>
      </p:cViewPr>
      <p:guideLst>
        <p:guide orient="horz" pos="1224"/>
        <p:guide pos="660"/>
        <p:guide pos="7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7" d="100"/>
          <a:sy n="127" d="100"/>
        </p:scale>
        <p:origin x="2408" y="18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43B79-D91C-4CC8-9FCA-9A8D5E4A9F4D}" type="datetimeFigureOut">
              <a:rPr lang="de-DE" smtClean="0"/>
              <a:t>10.12.25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B3FB5-7BAC-473D-B843-79369192FE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4821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E90EA-7BB4-48C3-BC93-BF3E508112CA}" type="datetimeFigureOut">
              <a:rPr lang="de-DE" smtClean="0"/>
              <a:t>10.12.25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610E4-D9DB-4CCA-A207-D9538FBDDFB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4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041400" y="1689100"/>
            <a:ext cx="7042150" cy="2089150"/>
          </a:xfrm>
        </p:spPr>
        <p:txBody>
          <a:bodyPr lIns="0" tIns="0" rIns="0" bIns="0" anchor="t">
            <a:noAutofit/>
          </a:bodyPr>
          <a:lstStyle>
            <a:lvl1pPr>
              <a:lnSpc>
                <a:spcPts val="8000"/>
              </a:lnSpc>
              <a:defRPr sz="8000" b="1"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041401" y="4406900"/>
            <a:ext cx="1860549" cy="965200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err="1"/>
              <a:t>Subtitel</a:t>
            </a:r>
            <a:r>
              <a:rPr lang="de-DE" dirty="0"/>
              <a:t> of the presentation </a:t>
            </a:r>
            <a:br>
              <a:rPr lang="de-DE" dirty="0"/>
            </a:br>
            <a:r>
              <a:rPr lang="de-DE" dirty="0"/>
              <a:t>(optional)</a:t>
            </a:r>
          </a:p>
        </p:txBody>
      </p:sp>
    </p:spTree>
    <p:extLst>
      <p:ext uri="{BB962C8B-B14F-4D97-AF65-F5344CB8AC3E}">
        <p14:creationId xmlns:p14="http://schemas.microsoft.com/office/powerpoint/2010/main" val="143601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41400" y="520700"/>
            <a:ext cx="7042150" cy="7699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Headline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1399" y="1930400"/>
            <a:ext cx="7042151" cy="3949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AT" dirty="0"/>
              <a:t>Sechste Ebene </a:t>
            </a:r>
          </a:p>
          <a:p>
            <a:pPr lvl="6"/>
            <a:r>
              <a:rPr lang="de-AT" dirty="0"/>
              <a:t>Siebte Ebene</a:t>
            </a:r>
          </a:p>
          <a:p>
            <a:pPr lvl="7"/>
            <a:r>
              <a:rPr lang="de-AT" dirty="0"/>
              <a:t>Achte Ebene</a:t>
            </a:r>
          </a:p>
          <a:p>
            <a:pPr lvl="8"/>
            <a:r>
              <a:rPr lang="de-AT" dirty="0"/>
              <a:t>Neunte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77599" y="6216651"/>
            <a:ext cx="392193" cy="19684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accent4"/>
                </a:solidFill>
              </a:defRPr>
            </a:lvl1pPr>
          </a:lstStyle>
          <a:p>
            <a:fld id="{9B8809E3-6447-488F-8267-D417BAD1E739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4D6B4-29ED-65D9-91BF-CB22A28D04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89588" y="6657340"/>
            <a:ext cx="103505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Klassifikation: Intern</a:t>
            </a:r>
          </a:p>
        </p:txBody>
      </p:sp>
    </p:spTree>
    <p:extLst>
      <p:ext uri="{BB962C8B-B14F-4D97-AF65-F5344CB8AC3E}">
        <p14:creationId xmlns:p14="http://schemas.microsoft.com/office/powerpoint/2010/main" val="324564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3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300"/>
        </a:spcBef>
        <a:spcAft>
          <a:spcPts val="600"/>
        </a:spcAft>
        <a:buFont typeface="Calibri" panose="020F050202020403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73050" algn="l" defTabSz="914400" rtl="0" eaLnBrk="1" latinLnBrk="0" hangingPunct="1"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6700" algn="l" defTabSz="914400" rtl="0" eaLnBrk="1" latinLnBrk="0" hangingPunct="1">
        <a:spcBef>
          <a:spcPts val="300"/>
        </a:spcBef>
        <a:spcAft>
          <a:spcPts val="600"/>
        </a:spcAft>
        <a:buClr>
          <a:schemeClr val="accent1"/>
        </a:buClr>
        <a:buFont typeface="Calibri" panose="020F050202020403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ts val="300"/>
        </a:spcBef>
        <a:spcAft>
          <a:spcPts val="600"/>
        </a:spcAft>
        <a:buFont typeface="Calibri" panose="020F0502020204030204" pitchFamily="34" charset="0"/>
        <a:buChar char="﻿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300"/>
        </a:spcBef>
        <a:spcAft>
          <a:spcPts val="600"/>
        </a:spcAft>
        <a:buFont typeface="Calibri" panose="020F0502020204030204" pitchFamily="34" charset="0"/>
        <a:buChar char="﻿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300"/>
        </a:spcBef>
        <a:spcAft>
          <a:spcPts val="600"/>
        </a:spcAft>
        <a:buFont typeface="Calibri" panose="020F0502020204030204" pitchFamily="34" charset="0"/>
        <a:buChar char="﻿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spcBef>
          <a:spcPts val="300"/>
        </a:spcBef>
        <a:spcAft>
          <a:spcPts val="600"/>
        </a:spcAft>
        <a:buFont typeface="Calibri" panose="020F0502020204030204" pitchFamily="34" charset="0"/>
        <a:buChar char="﻿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ts val="4000"/>
        </a:lnSpc>
        <a:spcBef>
          <a:spcPct val="20000"/>
        </a:spcBef>
        <a:buFont typeface="Calibri" panose="020F0502020204030204" pitchFamily="34" charset="0"/>
        <a:buChar char="﻿"/>
        <a:defRPr sz="4000" b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A1D2D-585C-6123-07E7-E709B9E8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0C44D2-1BBD-22D1-508C-910D56EE9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305" y="304824"/>
            <a:ext cx="10976355" cy="56140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ea typeface="+mj-ea"/>
                <a:cs typeface="+mj-cs"/>
              </a:rPr>
              <a:t>Open Sources Software</a:t>
            </a:r>
            <a:endParaRPr lang="de-DE" sz="2400" b="0" dirty="0">
              <a:ea typeface="Roboto Light" panose="02000000000000000000" pitchFamily="2" charset="0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DCB01E9-7238-962F-DF9E-3D246326D12B}"/>
              </a:ext>
            </a:extLst>
          </p:cNvPr>
          <p:cNvSpPr txBox="1">
            <a:spLocks/>
          </p:cNvSpPr>
          <p:nvPr/>
        </p:nvSpPr>
        <p:spPr>
          <a:xfrm>
            <a:off x="672306" y="1111684"/>
            <a:ext cx="2975355" cy="3195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8000"/>
              </a:lnSpc>
              <a:spcBef>
                <a:spcPct val="0"/>
              </a:spcBef>
              <a:buNone/>
              <a:defRPr sz="80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DE" sz="1800" b="0" dirty="0">
                <a:ea typeface="Roboto Light" panose="02000000000000000000" pitchFamily="2" charset="0"/>
              </a:rPr>
              <a:t>Key Benefits: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12FF7FE-89CA-1595-2CBE-9B3CF1D758F2}"/>
              </a:ext>
            </a:extLst>
          </p:cNvPr>
          <p:cNvSpPr txBox="1">
            <a:spLocks/>
          </p:cNvSpPr>
          <p:nvPr/>
        </p:nvSpPr>
        <p:spPr>
          <a:xfrm>
            <a:off x="3568149" y="1111684"/>
            <a:ext cx="5112026" cy="3195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8000"/>
              </a:lnSpc>
              <a:spcBef>
                <a:spcPct val="0"/>
              </a:spcBef>
              <a:buNone/>
              <a:defRPr sz="80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e-DE" sz="1600" b="0" dirty="0" err="1">
                <a:ea typeface="Roboto Light" panose="02000000000000000000" pitchFamily="2" charset="0"/>
              </a:rPr>
              <a:t>Introduction</a:t>
            </a:r>
            <a:endParaRPr lang="de-DE" sz="1600" b="0" dirty="0">
              <a:ea typeface="Roboto Light" panose="02000000000000000000" pitchFamily="2" charset="0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C9B59A5-B377-7FA9-5C2A-92F210D09388}"/>
              </a:ext>
            </a:extLst>
          </p:cNvPr>
          <p:cNvSpPr txBox="1">
            <a:spLocks/>
          </p:cNvSpPr>
          <p:nvPr/>
        </p:nvSpPr>
        <p:spPr>
          <a:xfrm>
            <a:off x="672306" y="1598703"/>
            <a:ext cx="2975355" cy="3195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8000"/>
              </a:lnSpc>
              <a:spcBef>
                <a:spcPct val="0"/>
              </a:spcBef>
              <a:buNone/>
              <a:defRPr sz="80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de-DE" sz="1800" b="0" dirty="0">
              <a:ea typeface="Roboto Light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21358-1D53-C947-36C8-18FF9277C618}"/>
              </a:ext>
            </a:extLst>
          </p:cNvPr>
          <p:cNvSpPr txBox="1"/>
          <p:nvPr/>
        </p:nvSpPr>
        <p:spPr>
          <a:xfrm>
            <a:off x="672305" y="1709530"/>
            <a:ext cx="990292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Open-source software is cost-effective as it eliminates licensing fees, reducing overall expenses.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Enhances security and transparency by allowing public access to source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global community improves and maintains open-source projects.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Offers flexibility, allowing users to customize and adapt the software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01D0E-1FA0-AE03-7844-FB083F18910E}"/>
              </a:ext>
            </a:extLst>
          </p:cNvPr>
          <p:cNvSpPr txBox="1"/>
          <p:nvPr/>
        </p:nvSpPr>
        <p:spPr>
          <a:xfrm>
            <a:off x="672306" y="3710609"/>
            <a:ext cx="1072088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Open-source projects often rely on community support, which may not be as reliable as dedicated customer service.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Some open-source solutions may require advanced technical expertise for implementation and maintenance.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27D002-9F37-C71C-7CDA-A5E3125DCFD1}"/>
              </a:ext>
            </a:extLst>
          </p:cNvPr>
          <p:cNvSpPr txBox="1">
            <a:spLocks/>
          </p:cNvSpPr>
          <p:nvPr/>
        </p:nvSpPr>
        <p:spPr>
          <a:xfrm>
            <a:off x="698809" y="3269224"/>
            <a:ext cx="2975355" cy="3195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8000"/>
              </a:lnSpc>
              <a:spcBef>
                <a:spcPct val="0"/>
              </a:spcBef>
              <a:buNone/>
              <a:defRPr sz="80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de-DE" sz="1600" dirty="0">
              <a:latin typeface="+mn-l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4A4D1-541C-FD17-4B51-86619DB0B9EA}"/>
              </a:ext>
            </a:extLst>
          </p:cNvPr>
          <p:cNvSpPr txBox="1"/>
          <p:nvPr/>
        </p:nvSpPr>
        <p:spPr>
          <a:xfrm>
            <a:off x="672306" y="3180670"/>
            <a:ext cx="5243423" cy="419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dirty="0">
                <a:latin typeface="+mj-lt"/>
                <a:ea typeface="Roboto Light" panose="02000000000000000000" pitchFamily="2" charset="0"/>
                <a:cs typeface="+mj-cs"/>
              </a:rPr>
              <a:t>Considerations When Using Open-Source Software:</a:t>
            </a:r>
          </a:p>
          <a:p>
            <a:pPr>
              <a:lnSpc>
                <a:spcPts val="1700"/>
              </a:lnSpc>
            </a:pP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6036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91015_IMC_PPT_Master_Vs4">
  <a:themeElements>
    <a:clrScheme name="IMC-colors">
      <a:dk1>
        <a:srgbClr val="282828"/>
      </a:dk1>
      <a:lt1>
        <a:srgbClr val="F2F2F2"/>
      </a:lt1>
      <a:dk2>
        <a:srgbClr val="7F7F7F"/>
      </a:dk2>
      <a:lt2>
        <a:srgbClr val="F2F2F2"/>
      </a:lt2>
      <a:accent1>
        <a:srgbClr val="FF4637"/>
      </a:accent1>
      <a:accent2>
        <a:srgbClr val="5F5F5F"/>
      </a:accent2>
      <a:accent3>
        <a:srgbClr val="000000"/>
      </a:accent3>
      <a:accent4>
        <a:srgbClr val="939393"/>
      </a:accent4>
      <a:accent5>
        <a:srgbClr val="D0D0D0"/>
      </a:accent5>
      <a:accent6>
        <a:srgbClr val="FFFFFF"/>
      </a:accent6>
      <a:hlink>
        <a:srgbClr val="FF4637"/>
      </a:hlink>
      <a:folHlink>
        <a:srgbClr val="FF4637"/>
      </a:folHlink>
    </a:clrScheme>
    <a:fontScheme name="IMC-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0" tIns="0" rIns="0" bIns="0"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ts val="1700"/>
          </a:lnSpc>
          <a:defRPr sz="1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C3F3EF18-ADF3-48B9-BAA7-229800A63BC5}" vid="{266B1215-44BA-4956-86A9-0E2E8707D6C8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5E288E95AFD244390D0791939D38F50" ma:contentTypeVersion="18" ma:contentTypeDescription="Ein neues Dokument erstellen." ma:contentTypeScope="" ma:versionID="29874fb4950ea0d28af12d24dd53f115">
  <xsd:schema xmlns:xsd="http://www.w3.org/2001/XMLSchema" xmlns:xs="http://www.w3.org/2001/XMLSchema" xmlns:p="http://schemas.microsoft.com/office/2006/metadata/properties" xmlns:ns2="ff2387ba-180d-4a54-a138-bc6c918ba43a" xmlns:ns3="54e4b6d0-a9c7-4733-8b53-44a9be3eef3c" targetNamespace="http://schemas.microsoft.com/office/2006/metadata/properties" ma:root="true" ma:fieldsID="868c2c74644ccffeee4413ea0c69773b" ns2:_="" ns3:_="">
    <xsd:import namespace="ff2387ba-180d-4a54-a138-bc6c918ba43a"/>
    <xsd:import namespace="54e4b6d0-a9c7-4733-8b53-44a9be3eef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2387ba-180d-4a54-a138-bc6c918ba4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8a9a1eed-6561-406d-8e84-472b325daf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e4b6d0-a9c7-4733-8b53-44a9be3eef3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ccb0f20-03f6-4862-82e9-ca37f264c342}" ma:internalName="TaxCatchAll" ma:showField="CatchAllData" ma:web="54e4b6d0-a9c7-4733-8b53-44a9be3eef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2387ba-180d-4a54-a138-bc6c918ba43a">
      <Terms xmlns="http://schemas.microsoft.com/office/infopath/2007/PartnerControls"/>
    </lcf76f155ced4ddcb4097134ff3c332f>
    <TaxCatchAll xmlns="54e4b6d0-a9c7-4733-8b53-44a9be3eef3c" xsi:nil="true"/>
    <SharedWithUsers xmlns="54e4b6d0-a9c7-4733-8b53-44a9be3eef3c">
      <UserInfo>
        <DisplayName/>
        <AccountId xsi:nil="true"/>
        <AccountType/>
      </UserInfo>
    </SharedWithUsers>
    <MediaLengthInSeconds xmlns="ff2387ba-180d-4a54-a138-bc6c918ba43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ontrol xmlns="http://schemas.microsoft.com/VisualStudio/2011/storyboarding/control">
  <Id Name="e4547518-797d-4f02-86c9-889b46f032ee" Revision="1" Stencil="System.MyShapes" StencilVersion="1.0"/>
</Control>
</file>

<file path=customXml/itemProps1.xml><?xml version="1.0" encoding="utf-8"?>
<ds:datastoreItem xmlns:ds="http://schemas.openxmlformats.org/officeDocument/2006/customXml" ds:itemID="{43EB4E3F-E0A5-448B-829F-F0701C4DDC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2387ba-180d-4a54-a138-bc6c918ba43a"/>
    <ds:schemaRef ds:uri="54e4b6d0-a9c7-4733-8b53-44a9be3eef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76CB90-1FE6-4695-8C2D-362A7A016612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2f9ac9ed-980c-4818-bb19-01264d4f0ffd"/>
    <ds:schemaRef ds:uri="88c5ba13-3e27-4b3a-ae72-bd7d22db23a0"/>
    <ds:schemaRef ds:uri="ff2387ba-180d-4a54-a138-bc6c918ba43a"/>
    <ds:schemaRef ds:uri="54e4b6d0-a9c7-4733-8b53-44a9be3eef3c"/>
  </ds:schemaRefs>
</ds:datastoreItem>
</file>

<file path=customXml/itemProps3.xml><?xml version="1.0" encoding="utf-8"?>
<ds:datastoreItem xmlns:ds="http://schemas.openxmlformats.org/officeDocument/2006/customXml" ds:itemID="{236B289D-6A96-4750-804E-176EE268B02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72F38CCF-C6A8-404A-A14B-B5D122F4DE49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191015_IMC_PPT_Master_Vs4</Template>
  <TotalTime>2</TotalTime>
  <Words>90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Roboto</vt:lpstr>
      <vt:lpstr>Roboto Light</vt:lpstr>
      <vt:lpstr>191015_IMC_PPT_Master_Vs4</vt:lpstr>
      <vt:lpstr>Open Sources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image</dc:title>
  <dc:creator>Pia Bardesono</dc:creator>
  <cp:lastModifiedBy>Hoernle, Nicholas</cp:lastModifiedBy>
  <cp:revision>159</cp:revision>
  <dcterms:created xsi:type="dcterms:W3CDTF">2023-11-02T11:31:14Z</dcterms:created>
  <dcterms:modified xsi:type="dcterms:W3CDTF">2025-12-10T19:26:39Z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ContentTypeId">
    <vt:lpwstr>0x010100A5E288E95AFD244390D0791939D38F50</vt:lpwstr>
  </property>
  <property fmtid="{D5CDD505-2E9C-101B-9397-08002B2CF9AE}" pid="4" name="Tfs.LastKnownPath">
    <vt:lpwstr>https://imcoffice365.sharepoint.com/sites/Design/Freigegebene Dokumente/002 BRAND ASSETS 2020/IMC_Powerpoint/191125_IMC_PPT_Master_Vs4_English.pptx</vt:lpwstr>
  </property>
  <property fmtid="{D5CDD505-2E9C-101B-9397-08002B2CF9AE}" pid="5" name="MediaServiceImageTags">
    <vt:lpwstr/>
  </property>
  <property fmtid="{D5CDD505-2E9C-101B-9397-08002B2CF9AE}" pid="6" name="Order">
    <vt:r8>30197800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  <property fmtid="{D5CDD505-2E9C-101B-9397-08002B2CF9AE}" pid="15" name="MSIP_Label_c9fa9681-7f79-4e74-9733-7451baa27064_Enabled">
    <vt:lpwstr>true</vt:lpwstr>
  </property>
  <property fmtid="{D5CDD505-2E9C-101B-9397-08002B2CF9AE}" pid="16" name="MSIP_Label_c9fa9681-7f79-4e74-9733-7451baa27064_SetDate">
    <vt:lpwstr>2025-12-10T19:23:53Z</vt:lpwstr>
  </property>
  <property fmtid="{D5CDD505-2E9C-101B-9397-08002B2CF9AE}" pid="17" name="MSIP_Label_c9fa9681-7f79-4e74-9733-7451baa27064_Method">
    <vt:lpwstr>Standard</vt:lpwstr>
  </property>
  <property fmtid="{D5CDD505-2E9C-101B-9397-08002B2CF9AE}" pid="18" name="MSIP_Label_c9fa9681-7f79-4e74-9733-7451baa27064_Name">
    <vt:lpwstr>Intern</vt:lpwstr>
  </property>
  <property fmtid="{D5CDD505-2E9C-101B-9397-08002B2CF9AE}" pid="19" name="MSIP_Label_c9fa9681-7f79-4e74-9733-7451baa27064_SiteId">
    <vt:lpwstr>6dc4733e-e208-46c8-8508-f1ba9c2a9c19</vt:lpwstr>
  </property>
  <property fmtid="{D5CDD505-2E9C-101B-9397-08002B2CF9AE}" pid="20" name="MSIP_Label_c9fa9681-7f79-4e74-9733-7451baa27064_ActionId">
    <vt:lpwstr>78ec07bf-74e6-4742-b897-d4cc5e2f5c9f</vt:lpwstr>
  </property>
  <property fmtid="{D5CDD505-2E9C-101B-9397-08002B2CF9AE}" pid="21" name="MSIP_Label_c9fa9681-7f79-4e74-9733-7451baa27064_ContentBits">
    <vt:lpwstr>2</vt:lpwstr>
  </property>
  <property fmtid="{D5CDD505-2E9C-101B-9397-08002B2CF9AE}" pid="22" name="MSIP_Label_c9fa9681-7f79-4e74-9733-7451baa27064_Tag">
    <vt:lpwstr>50, 3, 0, 1</vt:lpwstr>
  </property>
  <property fmtid="{D5CDD505-2E9C-101B-9397-08002B2CF9AE}" pid="23" name="ClassificationContentMarkingFooterLocations">
    <vt:lpwstr>191015_IMC_PPT_Master_Vs4:5</vt:lpwstr>
  </property>
  <property fmtid="{D5CDD505-2E9C-101B-9397-08002B2CF9AE}" pid="24" name="ClassificationContentMarkingFooterText">
    <vt:lpwstr>Klassifikation: Intern</vt:lpwstr>
  </property>
</Properties>
</file>